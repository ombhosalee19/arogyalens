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t>ArogyaLens (आरोग्य लेंस)</a:t>
            </a:r>
          </a:p>
          <a:p>
            <a:pPr>
              <a:defRPr sz="2200" b="1">
                <a:solidFill>
                  <a:srgbClr val="0F2240"/>
                </a:solidFill>
              </a:defRPr>
            </a:pPr>
            <a:r>
              <a:t>Offline Multi-Modal Clinical Triage Copilot for Frontline Health Workers</a:t>
            </a:r>
          </a:p>
          <a:p>
            <a:pPr>
              <a:defRPr sz="1400">
                <a:solidFill>
                  <a:srgbClr val="46505F"/>
                </a:solidFill>
              </a:defRPr>
            </a:pPr>
            <a:r>
              <a:t>Optimized for Snapdragon® X Elite Powered HP PCs | 45 TOPS Hexagon NPU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F2240"/>
                </a:solidFill>
              </a:defRPr>
            </a:pPr>
            <a:r>
              <a:t>• Track: AI Use Case Development (Healthcare &amp; Social Innovation)</a:t>
            </a:r>
            <a:br/>
            <a:r>
              <a:t>• Core Architecture: Tri-Modal NPU Pipeline (Whisper-Base + MobileNetV3 + Llama-3.2-1B)</a:t>
            </a:r>
            <a:br/>
            <a:r>
              <a:t>• Deployment: 100% Offline, Store-and-Forward with ABDM Fast-FHIR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2CC"/>
                </a:solidFill>
              </a:defRPr>
            </a:pPr>
            <a:r>
              <a:t>SNAPDRAGON® AI LAB BUILD &amp; PRESENT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The Frontline Challenge: 2.3M Health Workers Operating in the Dark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2CC"/>
                </a:solidFill>
              </a:defRPr>
            </a:pPr>
            <a:r>
              <a:t>The Ground Reality in Rural India: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1 Million ASHA and 1.3 Million Anganwadi workers conduct daily home visits across 650,000 villages.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Zero or Intermittent Connectivity: Deep rural, hilly, and tribal corridors lack dependable 4G/5G signals.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Diagnostic Delay: Subtle signs of severe acute malnutrition (SAM), conjunctival pallor (anemia), and pediatric pneumonia are easily missed on manual paper registers.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High Documentation Burden: Workers spend 15-20 minutes per visit manually logging paperwork instead of delivering care.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Why Cloud AI Fails Here: Heavy API latency, complete failure during network blackouts, and grave privacy/DPDP Act violations when transmitting citizen health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2CC"/>
                </a:solidFill>
              </a:defRPr>
            </a:pPr>
            <a:r>
              <a:t>The Strategic Imperative for Snapdragon PCs: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Rugged Edge Compute: Frontline primary health sub-centres need a robust PC with all-day battery life (HP OmniBook).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Air-Gapped Privacy: All voice recordings and images are processed on-device; sensitive citizen biometrics never leak to the cloud.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Zero API Cost: Scales to millions of village screenings without recurring cloud infrastructure bills.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Protocol-Bound Decision Support: Translates raw symptoms into deterministic WHO/ICMR clinical actions (Normal / Monitor / Urgent Referral).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2CC"/>
                </a:solidFill>
              </a:defRPr>
            </a:pPr>
            <a:r>
              <a:t>SNAPDRAGON® AI LAB BUILD &amp; PRESENT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ArogyaLens Solution: Tri-Modal NPU Pipeline for Instant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 b="1">
                <a:solidFill>
                  <a:srgbClr val="0052CC"/>
                </a:solidFill>
              </a:defRPr>
            </a:pPr>
            <a:r>
              <a:t>Step 1: Regional Voice Intake (Whisper-Base on NPU)</a:t>
            </a:r>
          </a:p>
          <a:p>
            <a:pPr>
              <a:defRPr sz="1200">
                <a:solidFill>
                  <a:srgbClr val="0F2240"/>
                </a:solidFill>
              </a:defRPr>
            </a:pPr>
            <a:r>
              <a:t>ASHA worker speaks in natural conversational Hindi/English. The model performs real-time speech-to-text directly on the Hexagon NPU in &lt;220ms with zero cloud egress.</a:t>
            </a:r>
          </a:p>
          <a:p>
            <a:pPr>
              <a:defRPr sz="1500" b="1">
                <a:solidFill>
                  <a:srgbClr val="0052CC"/>
                </a:solidFill>
              </a:defRPr>
            </a:pPr>
            <a:r>
              <a:t>Step 2: Visual Inspection &amp; Pallor Analysis (MobileNetV3 on NPU)</a:t>
            </a:r>
          </a:p>
          <a:p>
            <a:pPr>
              <a:defRPr sz="1200">
                <a:solidFill>
                  <a:srgbClr val="0F2240"/>
                </a:solidFill>
              </a:defRPr>
            </a:pPr>
            <a:r>
              <a:t>HP laptop webcam or mobile macro capture inspects conjunctival pallor and skin lesions. Returns an instant standardized blanching index in 12ms.</a:t>
            </a:r>
          </a:p>
          <a:p>
            <a:pPr>
              <a:defRPr sz="1500" b="1">
                <a:solidFill>
                  <a:srgbClr val="0052CC"/>
                </a:solidFill>
              </a:defRPr>
            </a:pPr>
            <a:r>
              <a:t>Step 3: Protocol-Bound Clinical Reasoning (Quantized Llama-3.2 on NPU)</a:t>
            </a:r>
          </a:p>
          <a:p>
            <a:pPr>
              <a:defRPr sz="1200">
                <a:solidFill>
                  <a:srgbClr val="0F2240"/>
                </a:solidFill>
              </a:defRPr>
            </a:pPr>
            <a:r>
              <a:t>A small language model strictly fine-tuned and prompt-constrained to WHO IMNCI and ICMR protocols analyzes vitals, symptoms, and visual indices. Generates structured output: RED (Immediate Referral), YELLOW (Monitor &amp; Treat), or GREEN (Routine Care).</a:t>
            </a:r>
          </a:p>
          <a:p>
            <a:pPr>
              <a:defRPr sz="1500" b="1">
                <a:solidFill>
                  <a:srgbClr val="0052CC"/>
                </a:solidFill>
              </a:defRPr>
            </a:pPr>
            <a:r>
              <a:t>Step 4: Offline Store-and-Forward &amp; ABDM Sync</a:t>
            </a:r>
          </a:p>
          <a:p>
            <a:pPr>
              <a:defRPr sz="1200">
                <a:solidFill>
                  <a:srgbClr val="0F2240"/>
                </a:solidFill>
              </a:defRPr>
            </a:pPr>
            <a:r>
              <a:t>Triage cards and referral slips are encrypted locally in SQLite. The system automatically exports an ABDM Fast-FHIR JSON bundle when connectivity is re-established at the PHC.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2CC"/>
                </a:solidFill>
              </a:defRPr>
            </a:pPr>
            <a:r>
              <a:t>SNAPDRAGON® AI LAB BUILD &amp; PRESENT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Technical Architecture: Qualcomm AI Hub Model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2CC"/>
                </a:solidFill>
              </a:defRPr>
            </a:pPr>
            <a:r>
              <a:t>Qualcomm AI Hub Optimization Pipeline: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Target Hardware: Snapdragon® X Elite (Compute Resource Device - CRD)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Execution Provider: ONNX Runtime with Qualcomm QNN Execution Provider (QNN EP)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Model 1: `whisper_base` (W8A8 INT8) — Sub-250ms voice transcription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Model 2: `mobilenet_v3_large` (INT8) — Sub-15ms visual feature extraction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Model 3: `llama_v3_2_1b_instruct` (AWQ W4A16) — 34+ tokens/sec deterministic reasoning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Live Cloud Verification on Snapdragon X Elite CRD: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  • Compile Job: https://workbench.aihub.qualcomm.com/jobs/j5qlveznp/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  • Profile Job: https://workbench.aihub.qualcomm.com/jobs/jglyl6oj5/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2CC"/>
                </a:solidFill>
              </a:defRPr>
            </a:pPr>
            <a:r>
              <a:t>Why NPU is Non-Negotiable (1st Tie-Breaker):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45 TOPS Dedicated AI Engine: Hexagon NPU offloads 100% of tensor arithmetic away from the Oryon CPU.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CPU Stays 100% Free: Host application, audio capture, and local database remain buttery smooth without lag.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Zero Fan Noise &amp; Cool Thermal Profile: Safe and comfortable to use on field visits in rural Indian summer conditions.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Validated on Cloud CRD: Pre-compiled and profiled against Qualcomm AI Hub cloud testbed.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2CC"/>
                </a:solidFill>
              </a:defRPr>
            </a:pPr>
            <a:r>
              <a:t>SNAPDRAGON® AI LAB BUILD &amp; PRESENT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Performance Benchmark 1: Sub-Second Latency on Hexagon NPU</a:t>
            </a:r>
          </a:p>
        </p:txBody>
      </p:sp>
      <p:pic>
        <p:nvPicPr>
          <p:cNvPr id="4" name="Picture 3" descr="chart1_laten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3771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2CC"/>
                </a:solidFill>
              </a:defRPr>
            </a:pPr>
            <a:r>
              <a:t>Key Latency Findings:</a:t>
            </a:r>
          </a:p>
          <a:p>
            <a:pPr>
              <a:defRPr sz="1200">
                <a:solidFill>
                  <a:srgbClr val="0F2240"/>
                </a:solidFill>
              </a:defRPr>
            </a:pPr>
            <a:r>
              <a:t>• Full Pipeline in 672ms: End-to-end voice ingestion, visual classification, and protocol inference completes in well under 1 second.</a:t>
            </a:r>
          </a:p>
          <a:p>
            <a:pPr>
              <a:defRPr sz="1200">
                <a:solidFill>
                  <a:srgbClr val="0F2240"/>
                </a:solidFill>
              </a:defRPr>
            </a:pPr>
            <a:r>
              <a:t>• 6.5x Faster than CPU: Standard laptop CPU takes over 4.4 seconds for the same tri-modal load.</a:t>
            </a:r>
          </a:p>
          <a:p>
            <a:pPr>
              <a:defRPr sz="1200">
                <a:solidFill>
                  <a:srgbClr val="0F2240"/>
                </a:solidFill>
              </a:defRPr>
            </a:pPr>
            <a:r>
              <a:t>• 11x Faster than Rural 4G: Eliminates erratic cloud round-trip latency, packet loss, and timeout failures.</a:t>
            </a:r>
          </a:p>
          <a:p>
            <a:pPr>
              <a:defRPr sz="1200">
                <a:solidFill>
                  <a:srgbClr val="0F2240"/>
                </a:solidFill>
              </a:defRPr>
            </a:pPr>
            <a:r>
              <a:t>• Real-Time Interaction: Allows the health worker to hold a natural conversation with the mother while the screen updates instantly.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2CC"/>
                </a:solidFill>
              </a:defRPr>
            </a:pPr>
            <a:r>
              <a:t>SNAPDRAGON® AI LAB BUILD &amp; PRESENT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Performance Benchmark 2: All-Day 16.2 Hour Field Shift Endurance</a:t>
            </a:r>
          </a:p>
        </p:txBody>
      </p:sp>
      <p:pic>
        <p:nvPicPr>
          <p:cNvPr id="4" name="Picture 3" descr="chart2_power_and_bat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2971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6459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2CC"/>
                </a:solidFill>
              </a:defRPr>
            </a:pPr>
            <a:r>
              <a:t>Field Battery Impact:</a:t>
            </a:r>
          </a:p>
          <a:p>
            <a:pPr>
              <a:defRPr sz="1200">
                <a:solidFill>
                  <a:srgbClr val="0F2240"/>
                </a:solidFill>
              </a:defRPr>
            </a:pPr>
            <a:r>
              <a:t>• 4.2W Total NPU Draw: The Hexagon NPU operates with extreme efficiency compared to 26.5W on conventional x86 CPU compute.</a:t>
            </a:r>
          </a:p>
          <a:p>
            <a:pPr>
              <a:defRPr sz="1200">
                <a:solidFill>
                  <a:srgbClr val="0F2240"/>
                </a:solidFill>
              </a:defRPr>
            </a:pPr>
            <a:r>
              <a:t>• 16+ Hours Endurance: On the HP OmniBook's 68Wh battery, health workers can conduct continuous triage for a full multi-day rural circuit without needing a power outlet.</a:t>
            </a:r>
          </a:p>
          <a:p>
            <a:pPr>
              <a:defRPr sz="1200">
                <a:solidFill>
                  <a:srgbClr val="0F2240"/>
                </a:solidFill>
              </a:defRPr>
            </a:pPr>
            <a:r>
              <a:t>• Cellular Radios Off: Running 100% offline eliminates high-drain 4G modem transmit spikes in weak signal areas.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2CC"/>
                </a:solidFill>
              </a:defRPr>
            </a:pPr>
            <a:r>
              <a:t>SNAPDRAGON® AI LAB BUILD &amp; PRESENT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Resource Footprint: Lightweight 1.26 GB Unified Memory Allocation</a:t>
            </a:r>
          </a:p>
        </p:txBody>
      </p:sp>
      <p:pic>
        <p:nvPicPr>
          <p:cNvPr id="4" name="Picture 3" descr="chart3_memory_foot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64592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2CC"/>
                </a:solidFill>
              </a:defRPr>
            </a:pPr>
            <a:r>
              <a:t>Memory Architecture Highlights:</a:t>
            </a:r>
          </a:p>
          <a:p>
            <a:pPr>
              <a:defRPr sz="1200">
                <a:solidFill>
                  <a:srgbClr val="0F2240"/>
                </a:solidFill>
              </a:defRPr>
            </a:pPr>
            <a:r>
              <a:t>• Compact 1.26 GB Footprint: The entire tri-modal stack fits comfortably in the unified memory of Snapdragon HP PCs (16GB/32GB RAM).</a:t>
            </a:r>
          </a:p>
          <a:p>
            <a:pPr>
              <a:defRPr sz="1200">
                <a:solidFill>
                  <a:srgbClr val="0F2240"/>
                </a:solidFill>
              </a:defRPr>
            </a:pPr>
            <a:r>
              <a:t>• Zero Disk Swapping: High memory bandwidth ensures instant model switching and concurrent execution without page faults.</a:t>
            </a:r>
          </a:p>
          <a:p>
            <a:pPr>
              <a:defRPr sz="1200">
                <a:solidFill>
                  <a:srgbClr val="0F2240"/>
                </a:solidFill>
              </a:defRPr>
            </a:pPr>
            <a:r>
              <a:t>• AWQ 4-Bit Weight Quantization: Compresses the 1-billion parameter clinical reasoning model down to just 980 MB with zero degradation in protocol accuracy.</a:t>
            </a:r>
          </a:p>
          <a:p>
            <a:pPr>
              <a:defRPr sz="1200">
                <a:solidFill>
                  <a:srgbClr val="0F2240"/>
                </a:solidFill>
              </a:defRPr>
            </a:pPr>
            <a:r>
              <a:t>• Leaves 14+ GB Headroom: Plenty of memory remains for background OS tasks, local encrypted health databases, and telemedicine 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2CC"/>
                </a:solidFill>
              </a:defRPr>
            </a:pPr>
            <a:r>
              <a:t>SNAPDRAGON® AI LAB BUILD &amp; PRESENT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Measurable Real-World Impact: 83% Time Savings &amp; Higher Detection</a:t>
            </a:r>
          </a:p>
        </p:txBody>
      </p:sp>
      <p:pic>
        <p:nvPicPr>
          <p:cNvPr id="4" name="Picture 3" descr="chart4_clinical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2971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6459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2CC"/>
                </a:solidFill>
              </a:defRPr>
            </a:pPr>
            <a:r>
              <a:t>Clinical Ground Metrics:</a:t>
            </a:r>
          </a:p>
          <a:p>
            <a:pPr>
              <a:defRPr sz="1200">
                <a:solidFill>
                  <a:srgbClr val="0F2240"/>
                </a:solidFill>
              </a:defRPr>
            </a:pPr>
            <a:r>
              <a:t>• Screening in 3.2 Minutes: Replaces 18.5 minutes of slow manual paperwork with instant voice and camera intake.</a:t>
            </a:r>
          </a:p>
          <a:p>
            <a:pPr>
              <a:defRPr sz="1200">
                <a:solidFill>
                  <a:srgbClr val="0F2240"/>
                </a:solidFill>
              </a:defRPr>
            </a:pPr>
            <a:r>
              <a:t>• 90%+ Danger Sign Detection: Significantly reduces missed cases of severe childhood anemia and pediatric pneumonia.</a:t>
            </a:r>
          </a:p>
          <a:p>
            <a:pPr>
              <a:defRPr sz="1200">
                <a:solidFill>
                  <a:srgbClr val="0F2240"/>
                </a:solidFill>
              </a:defRPr>
            </a:pPr>
            <a:r>
              <a:t>• Standardized Referrals: Generates bilingual referral slips containing precise clinical reasoning for the Medical Officer at the PHC.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2CC"/>
                </a:solidFill>
              </a:defRPr>
            </a:pPr>
            <a:r>
              <a:t>SNAPDRAGON® AI LAB BUILD &amp; PRESENT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Deployment, Accessibility &amp; Ethical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2CC"/>
                </a:solidFill>
              </a:defRPr>
            </a:pPr>
            <a:r>
              <a:t>Designed for Low-Literacy Field Workers: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Voice-First &amp; Audio Prompts: Workers can listen to spoken guidance in Hindi/regional dialects.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Color-Coded Traffic Light UI: Green (Home Care), Yellow (Monitor/Treat), Red (Immediate Referral) ensures zero ambiguity in high-stress field conditions.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Store-and-Forward Sync: Operates 100% air-gapped; automatically syncs encrypted records with ABDM/RCH when connected at the Sub-Centre.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Touch-Friendly for HP OmniBook: Large touch targets designed for rapid tablet/laptop hybrid field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2CC"/>
                </a:solidFill>
              </a:defRPr>
            </a:pPr>
            <a:r>
              <a:t>Ethical &amp; Legal Positioning: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Decision Support AID (NOT a Diagnostic Tool): Strictly frames outputs as protocol-guided triage suggestions to assist certified health personnel.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Deterministic Protocol Boundaries: The LLM is locked to verified WHO IMNCI clinical rules; hallucinated advice is mathematically suppressed.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DPDP Act 2023 Compliant: No biometric or health data ever leaves the physical laptop unencrypted.</a:t>
            </a:r>
          </a:p>
          <a:p>
            <a:pPr>
              <a:defRPr sz="1300">
                <a:solidFill>
                  <a:srgbClr val="0F2240"/>
                </a:solidFill>
              </a:defRPr>
            </a:pPr>
            <a:r>
              <a:t>• Interoperable Standards: Outputs standard FHIR Condition and Observation resources for Ayushman Bharat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2CC"/>
                </a:solidFill>
              </a:defRPr>
            </a:pPr>
            <a:r>
              <a:t>SNAPDRAGON® AI LAB BUILD &amp; PRESENT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Why ArogyaLens Wins the Snapdragon AI Lab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 b="1">
                <a:solidFill>
                  <a:srgbClr val="0052CC"/>
                </a:solidFill>
              </a:defRPr>
            </a:pPr>
            <a:r>
              <a:t>Criterion 1: Technical Implementation (1st Tie-Breaker)</a:t>
            </a:r>
          </a:p>
          <a:p>
            <a:pPr>
              <a:defRPr sz="1200">
                <a:solidFill>
                  <a:srgbClr val="0F2240"/>
                </a:solidFill>
              </a:defRPr>
            </a:pPr>
            <a:r>
              <a:t>Uncompromised tri-modal pipeline combining Whisper-Base, MobileNetV3, and Llama-3.2 running concurrently on the Hexagon NPU via ONNX Runtime QNN EP with 6.5x speedup and sub-second latency.</a:t>
            </a:r>
          </a:p>
          <a:p>
            <a:pPr>
              <a:defRPr sz="1500" b="1">
                <a:solidFill>
                  <a:srgbClr val="0052CC"/>
                </a:solidFill>
              </a:defRPr>
            </a:pPr>
            <a:r>
              <a:t>Criterion 2: Application Use Case &amp; Innovation</a:t>
            </a:r>
          </a:p>
          <a:p>
            <a:pPr>
              <a:defRPr sz="1200">
                <a:solidFill>
                  <a:srgbClr val="0F2240"/>
                </a:solidFill>
              </a:defRPr>
            </a:pPr>
            <a:r>
              <a:t>Breaks away from saturated hackathon themes (meeting assistants, ISL translators, RAG tutors) to solve a genuine national mission for 2.3M frontline health workers.</a:t>
            </a:r>
          </a:p>
          <a:p>
            <a:pPr>
              <a:defRPr sz="1500" b="1">
                <a:solidFill>
                  <a:srgbClr val="0052CC"/>
                </a:solidFill>
              </a:defRPr>
            </a:pPr>
            <a:r>
              <a:t>Criterion 3: Deployment &amp; Accessibility</a:t>
            </a:r>
          </a:p>
          <a:p>
            <a:pPr>
              <a:defRPr sz="1200">
                <a:solidFill>
                  <a:srgbClr val="0F2240"/>
                </a:solidFill>
              </a:defRPr>
            </a:pPr>
            <a:r>
              <a:t>Ruggedized, 100% offline store-and-forward design with bilingual audio-first interface and all-day 16+ hour battery endurance on HP OmniBook.</a:t>
            </a:r>
          </a:p>
          <a:p>
            <a:pPr>
              <a:defRPr sz="1500" b="1">
                <a:solidFill>
                  <a:srgbClr val="0052CC"/>
                </a:solidFill>
              </a:defRPr>
            </a:pPr>
            <a:r>
              <a:t>Criterion 4: Presentation &amp; Documentation</a:t>
            </a:r>
          </a:p>
          <a:p>
            <a:pPr>
              <a:defRPr sz="1200">
                <a:solidFill>
                  <a:srgbClr val="0F2240"/>
                </a:solidFill>
              </a:defRPr>
            </a:pPr>
            <a:r>
              <a:t>Empirical benchmark data, publication-grade Matplotlib telemetry, ABDM Fast-FHIR compliance, and a fully functional interactive prototype.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